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63" r:id="rId5"/>
    <p:sldId id="256" r:id="rId6"/>
    <p:sldId id="257" r:id="rId7"/>
    <p:sldId id="258" r:id="rId8"/>
    <p:sldId id="259" r:id="rId9"/>
    <p:sldId id="415" r:id="rId10"/>
    <p:sldId id="416" r:id="rId11"/>
    <p:sldId id="260" r:id="rId12"/>
    <p:sldId id="261" r:id="rId13"/>
    <p:sldId id="417" r:id="rId14"/>
    <p:sldId id="418" r:id="rId15"/>
    <p:sldId id="419" r:id="rId16"/>
    <p:sldId id="420" r:id="rId17"/>
    <p:sldId id="421" r:id="rId18"/>
    <p:sldId id="422" r:id="rId19"/>
    <p:sldId id="425" r:id="rId20"/>
    <p:sldId id="424" r:id="rId21"/>
    <p:sldId id="423" r:id="rId22"/>
    <p:sldId id="414" r:id="rId23"/>
    <p:sldId id="426" r:id="rId24"/>
    <p:sldId id="427" r:id="rId25"/>
    <p:sldId id="442" r:id="rId26"/>
    <p:sldId id="430" r:id="rId27"/>
    <p:sldId id="431" r:id="rId28"/>
    <p:sldId id="432" r:id="rId29"/>
    <p:sldId id="433" r:id="rId30"/>
    <p:sldId id="434" r:id="rId31"/>
    <p:sldId id="435" r:id="rId32"/>
    <p:sldId id="262" r:id="rId33"/>
    <p:sldId id="436" r:id="rId34"/>
    <p:sldId id="429" r:id="rId35"/>
    <p:sldId id="438" r:id="rId36"/>
    <p:sldId id="439" r:id="rId37"/>
    <p:sldId id="443" r:id="rId38"/>
    <p:sldId id="444" r:id="rId39"/>
    <p:sldId id="445" r:id="rId40"/>
    <p:sldId id="446" r:id="rId41"/>
    <p:sldId id="440" r:id="rId42"/>
    <p:sldId id="437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A8E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571" autoAdjust="0"/>
  </p:normalViewPr>
  <p:slideViewPr>
    <p:cSldViewPr snapToGrid="0">
      <p:cViewPr varScale="1">
        <p:scale>
          <a:sx n="56" d="100"/>
          <a:sy n="56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407A9-D540-40A2-8E34-EBBBEB7B4B83}" type="datetimeFigureOut">
              <a:t>16/09/2026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24EA4-430B-4A69-9FFF-CACAD8270FE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35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24EA4-430B-4A69-9FFF-CACAD8270FE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596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24EA4-430B-4A69-9FFF-CACAD8270FEE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90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24EA4-430B-4A69-9FFF-CACAD8270FEE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852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24EA4-430B-4A69-9FFF-CACAD8270FEE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217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24EA4-430B-4A69-9FFF-CACAD8270FEE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8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24EA4-430B-4A69-9FFF-CACAD8270FEE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90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98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98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9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8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91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85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8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3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70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88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4C233B-A3DD-4841-A100-B193002D11F9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Retângulo 14"/>
          <p:cNvSpPr/>
          <p:nvPr userDrawn="1"/>
        </p:nvSpPr>
        <p:spPr>
          <a:xfrm>
            <a:off x="4742097" y="2501242"/>
            <a:ext cx="507446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000">
                <a:ln w="10160">
                  <a:solidFill>
                    <a:srgbClr val="DDDDDD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Dinâmica</a:t>
            </a: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173" y="2527058"/>
            <a:ext cx="2821667" cy="16220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Espaço Reservado para Texto 4"/>
          <p:cNvSpPr>
            <a:spLocks noGrp="1"/>
          </p:cNvSpPr>
          <p:nvPr>
            <p:ph type="body" sz="quarter" idx="12"/>
          </p:nvPr>
        </p:nvSpPr>
        <p:spPr>
          <a:xfrm>
            <a:off x="4943872" y="3429000"/>
            <a:ext cx="5088467" cy="7588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459636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t>16/09/2026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16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21.png"/><Relationship Id="rId10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2.png"/><Relationship Id="rId10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38.png"/><Relationship Id="rId5" Type="http://schemas.openxmlformats.org/officeDocument/2006/relationships/image" Target="../media/image21.png"/><Relationship Id="rId10" Type="http://schemas.openxmlformats.org/officeDocument/2006/relationships/image" Target="../media/image37.png"/><Relationship Id="rId4" Type="http://schemas.openxmlformats.org/officeDocument/2006/relationships/image" Target="../media/image20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.png"/><Relationship Id="rId7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9.png"/><Relationship Id="rId10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9.jf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jf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1.jf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f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f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f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0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noProof="0">
                <a:latin typeface="Helvetica"/>
                <a:cs typeface="Helvetica"/>
              </a:rPr>
              <a:t>Bem vindos ao Senac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pt-BR" sz="2000" noProof="0" dirty="0">
                <a:latin typeface="Helvetica"/>
                <a:cs typeface="Helvetica"/>
              </a:rPr>
              <a:t>Prof. </a:t>
            </a:r>
            <a:r>
              <a:rPr lang="pt-BR" sz="2000" noProof="0" dirty="0">
                <a:solidFill>
                  <a:schemeClr val="tx1"/>
                </a:solidFill>
                <a:latin typeface="Helvetica"/>
                <a:cs typeface="Helvetica"/>
              </a:rPr>
              <a:t>Marcos Augusto de Azevedo</a:t>
            </a:r>
          </a:p>
          <a:p>
            <a:r>
              <a:rPr lang="pt-BR" sz="2000" noProof="0" dirty="0">
                <a:latin typeface="Helvetica"/>
                <a:cs typeface="Helvetica"/>
              </a:rPr>
              <a:t>Email: marcos.aazevedo3@senacsp.edu.br</a:t>
            </a:r>
            <a:endParaRPr lang="pt-BR" sz="2000" noProof="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5290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347019"/>
            <a:ext cx="28956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5462" y="2937569"/>
            <a:ext cx="8601075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Space Grotesk"/>
              </a:rPr>
              <a:t>História da Impressão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8233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Das patentes industriais dos anos 80 à revolução da fabricação digital acessível.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F61CE9C-3FF2-41F7-0342-9696BA18A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12" y="3881437"/>
            <a:ext cx="9858375" cy="2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229100"/>
            <a:ext cx="2409825" cy="17942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1581447"/>
            <a:ext cx="2409825" cy="19809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075" y="4229100"/>
            <a:ext cx="2409825" cy="198090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3050" y="1371897"/>
            <a:ext cx="2409825" cy="21904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09737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57712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05687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53662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200" y="4448175"/>
            <a:ext cx="19716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1981 - 1986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772025"/>
            <a:ext cx="207025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1F5F9"/>
                </a:solidFill>
                <a:latin typeface="Space Grotesk SemiBold"/>
              </a:rPr>
              <a:t>A Invenção (SLA)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057775"/>
            <a:ext cx="1971675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Hideo Kodama cria os primeiros conceitos. Chuck Hull patenteia a Estereolitografia (SLA) e funda a 3D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1800522"/>
            <a:ext cx="19716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1988 - 1992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6175" y="2124372"/>
            <a:ext cx="207025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1F5F9"/>
                </a:solidFill>
                <a:latin typeface="Space Grotesk SemiBold"/>
              </a:rPr>
              <a:t>FDM e SLS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6175" y="2410122"/>
            <a:ext cx="1971675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Scott Crump desenvolve a tecnologia FDM (Stratasys). Carl Deckard cria a Sinterização Seletiva a Laser (SLS).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4448175"/>
            <a:ext cx="19716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2005 - 2009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4772025"/>
            <a:ext cx="207025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1F5F9"/>
                </a:solidFill>
                <a:latin typeface="Space Grotesk SemiBold"/>
              </a:rPr>
              <a:t>Movimento RepRap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5057775"/>
            <a:ext cx="1971675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Adrian Bowyer cria a impressora autorreplicável open-source. Surgem as primeiras impressoras desktop para makers.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2125" y="1590972"/>
            <a:ext cx="19716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2012 - Hoje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2125" y="1914822"/>
            <a:ext cx="2070258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F1F5F9"/>
                </a:solidFill>
                <a:latin typeface="Space Grotesk SemiBold"/>
              </a:rPr>
              <a:t>Popularização &amp; Velocidade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2125" y="2410122"/>
            <a:ext cx="1971675" cy="93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Expiração de patentes, automação completa, alta velocidade e expansão para medicina, aeroespacial e uso doméstico.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Evolução Histórica em 4 Eras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A6AA2A8C-30A9-3931-B651-043CF97C3B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1C40AFCC-2074-C8FB-2490-A9DEFB6A27BA}"/>
              </a:ext>
            </a:extLst>
          </p:cNvPr>
          <p:cNvSpPr txBox="1"/>
          <p:nvPr/>
        </p:nvSpPr>
        <p:spPr>
          <a:xfrm>
            <a:off x="6930965" y="556257"/>
            <a:ext cx="494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https://www.youtube.com/watch?v=8exspV0Dg7Q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1800225"/>
            <a:ext cx="5262562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57400"/>
            <a:ext cx="5262562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276600"/>
            <a:ext cx="5262562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495800"/>
            <a:ext cx="5262562" cy="1047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837" y="1809750"/>
            <a:ext cx="5243512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23837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4575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67677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343150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2383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SLA (Stereolithography) — 1984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955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Cura de resina líquida fotosensível através de feixe de laser UV. Alta precisão e riqueza de detalhes.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3562350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4575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FDM (Fused Deposition Modeling) — 1988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147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Extrusão camada por camada de termoplásticos derretidos através de um bico aquecido.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4781550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6767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SLS (Selective Laser Sintering) — 1988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39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Fundição seletiva de pó (nylon/metal) utilizando laser de alta potência, sem necessidade de suportes.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As Três Tecnologias Pioneiras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385B1A00-36BF-748F-1DF7-F84179CD53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475" y="275665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86025"/>
            <a:ext cx="3473499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324" y="2486025"/>
            <a:ext cx="3473499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524" y="2486025"/>
            <a:ext cx="3473499" cy="2628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80035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Projeto RepRap (2005)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Iniciativa open-source focada em criar impressoras 3D capazes de imprimir suas próprias peças. Reduziu os custos de $100.000 para poucas centenas de dólares.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99" y="280035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6499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Queda das Patentes (2009)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6499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Com a expiração das patentes primárias de FDM e SLA, o mercado explodiu com novas marcas de impressoras desktop, como MakerBot, Prusa e Creality.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99" y="280035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6699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A Era Moderna (Hoje)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699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Impressoras inteligentes de alta velocidade, calibração automática por sensores, impressão multimaterial e novos polímeros técnicos de engenharia.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33700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8899" y="2933700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9337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Da Indústria para a Sua Bancada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61A88B21-614F-8F4C-59EF-AA4CD29337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2367855"/>
            <a:ext cx="373380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15502" y="2958405"/>
            <a:ext cx="7960995" cy="71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sz="5100" b="1" i="0" u="none">
                <a:solidFill>
                  <a:srgbClr val="F8FAFC"/>
                </a:solidFill>
                <a:latin typeface="Space Grotesk"/>
              </a:rPr>
              <a:t>Tipos de Impressoras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861345"/>
            <a:ext cx="7429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Conheça os principais ecossistemas de manufatura aditiva: FDM, Resina (SLA/MSLA) e Sinterização (SLS).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11AA4A-8CC4-261C-0207-220ED3A48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86025"/>
            <a:ext cx="3473499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324" y="2486025"/>
            <a:ext cx="3473499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524" y="2486025"/>
            <a:ext cx="3473499" cy="2628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80035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8FAFC"/>
                </a:solidFill>
                <a:latin typeface="Space Grotesk"/>
              </a:rPr>
              <a:t>FDM / FFF (</a:t>
            </a:r>
            <a:r>
              <a:rPr sz="1650" b="1" i="0" u="none" dirty="0" err="1">
                <a:solidFill>
                  <a:srgbClr val="F8FAFC"/>
                </a:solidFill>
                <a:latin typeface="Space Grotesk"/>
              </a:rPr>
              <a:t>Filamento</a:t>
            </a:r>
            <a:r>
              <a:rPr sz="1650" b="1" i="0" u="none" dirty="0">
                <a:solidFill>
                  <a:srgbClr val="F8FAFC"/>
                </a:solidFill>
                <a:latin typeface="Space Grotesk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Mecânica de extrusão que derrete termoplásticos em carretel. É a tecnologia mais acessível, resistente e difundida no mundo.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99" y="280035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6499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SLA / MSLA (Resina)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6499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Fotopolimerização líquida por luz UV (Laser ou tela LCD). Garante altíssimo nível de detalhe, superfície lisa e precisão micrométrica.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99" y="280035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6699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SLS / SLM (Pó)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699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Fusão de pó químico por laser de alta potência (Nylon ou Metais). Ideal para peças industriais sem necessidade de suportes.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933700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849" y="2933700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9337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Principais Tecnologias do Mercado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1C10511-0983-9AEB-C922-EA8142B431FB}"/>
              </a:ext>
            </a:extLst>
          </p:cNvPr>
          <p:cNvSpPr txBox="1"/>
          <p:nvPr/>
        </p:nvSpPr>
        <p:spPr>
          <a:xfrm>
            <a:off x="569544" y="1788080"/>
            <a:ext cx="352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Modelagem por Deposição Fundida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57828C0-58D6-F2CA-C875-1445D341174C}"/>
              </a:ext>
            </a:extLst>
          </p:cNvPr>
          <p:cNvSpPr txBox="1"/>
          <p:nvPr/>
        </p:nvSpPr>
        <p:spPr>
          <a:xfrm>
            <a:off x="4328821" y="1763197"/>
            <a:ext cx="1718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Estereolitografia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7225CBF-86CC-F31C-4148-65DE3DD7CAD0}"/>
              </a:ext>
            </a:extLst>
          </p:cNvPr>
          <p:cNvSpPr txBox="1"/>
          <p:nvPr/>
        </p:nvSpPr>
        <p:spPr>
          <a:xfrm>
            <a:off x="8034804" y="2077522"/>
            <a:ext cx="216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Fusão seletiva a laser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B972E42-FBFB-42E9-D2CC-9689C007ABBB}"/>
              </a:ext>
            </a:extLst>
          </p:cNvPr>
          <p:cNvSpPr txBox="1"/>
          <p:nvPr/>
        </p:nvSpPr>
        <p:spPr>
          <a:xfrm>
            <a:off x="8099524" y="6095270"/>
            <a:ext cx="3473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https://www.youtube.com/shorts/z1vbPvR2R6c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7CF091F-3466-E520-7F3C-8BD93D22B671}"/>
              </a:ext>
            </a:extLst>
          </p:cNvPr>
          <p:cNvSpPr txBox="1"/>
          <p:nvPr/>
        </p:nvSpPr>
        <p:spPr>
          <a:xfrm>
            <a:off x="8086873" y="5429250"/>
            <a:ext cx="3486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https://www.youtube.com/shorts/3utyLikr-Xw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49959E1-DD90-30B4-DA8D-099D76856471}"/>
              </a:ext>
            </a:extLst>
          </p:cNvPr>
          <p:cNvSpPr txBox="1"/>
          <p:nvPr/>
        </p:nvSpPr>
        <p:spPr>
          <a:xfrm>
            <a:off x="8034804" y="1763197"/>
            <a:ext cx="28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Sinterização Seletiva a Laser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DBCF6B4-FC4C-61A2-F191-541D941FFB75}"/>
              </a:ext>
            </a:extLst>
          </p:cNvPr>
          <p:cNvSpPr txBox="1"/>
          <p:nvPr/>
        </p:nvSpPr>
        <p:spPr>
          <a:xfrm>
            <a:off x="4325422" y="2100263"/>
            <a:ext cx="2793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Estereolitografia Mascarada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C38B2FA-ED83-B297-3599-AB15395B5F19}"/>
              </a:ext>
            </a:extLst>
          </p:cNvPr>
          <p:cNvSpPr txBox="1"/>
          <p:nvPr/>
        </p:nvSpPr>
        <p:spPr>
          <a:xfrm>
            <a:off x="569544" y="2116693"/>
            <a:ext cx="3413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Fabricação por Filamento Fundido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03B0624-05F5-D6AB-3E84-5883A65D41DE}"/>
              </a:ext>
            </a:extLst>
          </p:cNvPr>
          <p:cNvSpPr txBox="1"/>
          <p:nvPr/>
        </p:nvSpPr>
        <p:spPr>
          <a:xfrm>
            <a:off x="569544" y="5229225"/>
            <a:ext cx="61936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u="none" strike="noStrike" dirty="0">
                <a:solidFill>
                  <a:schemeClr val="bg1"/>
                </a:solidFill>
                <a:effectLst/>
                <a:latin typeface="+mn-lt"/>
              </a:rPr>
              <a:t>O termo FDM foi patenteado pela empresa </a:t>
            </a:r>
            <a:r>
              <a:rPr lang="pt-BR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Stratasys</a:t>
            </a:r>
            <a:r>
              <a:rPr lang="pt-BR" sz="1800" b="0" u="none" strike="noStrike" dirty="0">
                <a:solidFill>
                  <a:schemeClr val="bg1"/>
                </a:solidFill>
                <a:effectLst/>
                <a:latin typeface="+mn-lt"/>
              </a:rPr>
              <a:t>, enquanto o termo FFF foi criado pelo movimento livre </a:t>
            </a:r>
            <a:r>
              <a:rPr lang="pt-BR" sz="1800" b="0" u="none" strike="noStrike" dirty="0" err="1">
                <a:solidFill>
                  <a:schemeClr val="bg1"/>
                </a:solidFill>
                <a:effectLst/>
                <a:latin typeface="+mn-lt"/>
              </a:rPr>
              <a:t>RepRap</a:t>
            </a:r>
            <a:r>
              <a:rPr lang="pt-BR" sz="1800" b="0" u="none" strike="noStrike" dirty="0">
                <a:solidFill>
                  <a:schemeClr val="bg1"/>
                </a:solidFill>
                <a:effectLst/>
                <a:latin typeface="+mn-lt"/>
              </a:rPr>
              <a:t> para uso geral e sem restrições comerciais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6D76C62-3093-784E-E784-158BE15FE3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476" y="306521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594A41-81B0-BC3C-56D5-4C580AB6C76F}"/>
              </a:ext>
            </a:extLst>
          </p:cNvPr>
          <p:cNvSpPr txBox="1"/>
          <p:nvPr/>
        </p:nvSpPr>
        <p:spPr>
          <a:xfrm>
            <a:off x="309561" y="485626"/>
            <a:ext cx="11149013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sz="1800" b="1" u="none" strike="noStrike" dirty="0">
                <a:effectLst/>
                <a:latin typeface="+mn-lt"/>
              </a:rPr>
              <a:t>O que é SLA (Estereolitografia)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1" u="none" strike="noStrike" dirty="0">
                <a:effectLst/>
                <a:latin typeface="+mn-lt"/>
              </a:rPr>
              <a:t>Como funciona:</a:t>
            </a:r>
            <a:r>
              <a:rPr lang="pt-BR" sz="1800" b="0" u="none" strike="noStrike" dirty="0">
                <a:effectLst/>
                <a:latin typeface="+mn-lt"/>
              </a:rPr>
              <a:t> Um feixe de laser ultravioleta é direcionado por espelhos (galvanômetros) para traçar o contorno exato de cada camada na resina líquida.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1" u="none" strike="noStrike" dirty="0">
                <a:effectLst/>
                <a:latin typeface="+mn-lt"/>
              </a:rPr>
              <a:t>Precisão:</a:t>
            </a:r>
            <a:r>
              <a:rPr lang="pt-BR" sz="1800" b="0" u="none" strike="noStrike" dirty="0">
                <a:effectLst/>
                <a:latin typeface="+mn-lt"/>
              </a:rPr>
              <a:t> Produz curvas extremamente suaves e superfícies orgânicas perfeitas, pois o movimento do laser é contínuo (vetorial).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1" u="none" strike="noStrike" dirty="0">
                <a:effectLst/>
                <a:latin typeface="+mn-lt"/>
              </a:rPr>
              <a:t>Velocidade:</a:t>
            </a:r>
            <a:r>
              <a:rPr lang="pt-BR" sz="1800" b="0" u="none" strike="noStrike" dirty="0">
                <a:effectLst/>
                <a:latin typeface="+mn-lt"/>
              </a:rPr>
              <a:t> Mais lento para peças grandes ou lotes cheios, pois o tempo depende do caminho que o laser precisa percorrer.</a:t>
            </a:r>
            <a:endParaRPr lang="pt-BR" sz="1200" b="0" u="none" strike="noStrike" dirty="0">
              <a:effectLst/>
              <a:latin typeface="Google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4A3DC8-F859-A7F9-346E-5A9AB37E893A}"/>
              </a:ext>
            </a:extLst>
          </p:cNvPr>
          <p:cNvSpPr txBox="1"/>
          <p:nvPr/>
        </p:nvSpPr>
        <p:spPr>
          <a:xfrm>
            <a:off x="309560" y="3648552"/>
            <a:ext cx="1114901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sz="1800" b="1" u="none" strike="noStrike" dirty="0">
                <a:effectLst/>
                <a:latin typeface="+mn-lt"/>
              </a:rPr>
              <a:t>O que é MSLA (</a:t>
            </a:r>
            <a:r>
              <a:rPr lang="pt-BR" sz="1800" b="1" u="none" strike="noStrike" dirty="0" err="1">
                <a:effectLst/>
                <a:latin typeface="+mn-lt"/>
              </a:rPr>
              <a:t>Masked</a:t>
            </a:r>
            <a:r>
              <a:rPr lang="pt-BR" sz="1800" b="1" u="none" strike="noStrike" dirty="0">
                <a:effectLst/>
                <a:latin typeface="+mn-lt"/>
              </a:rPr>
              <a:t> </a:t>
            </a:r>
            <a:r>
              <a:rPr lang="pt-BR" sz="1800" b="1" u="none" strike="noStrike" dirty="0" err="1">
                <a:effectLst/>
                <a:latin typeface="+mn-lt"/>
              </a:rPr>
              <a:t>Stereolithography</a:t>
            </a:r>
            <a:r>
              <a:rPr lang="pt-BR" sz="1800" b="1" u="none" strike="noStrike" dirty="0">
                <a:effectLst/>
                <a:latin typeface="+mn-lt"/>
              </a:rPr>
              <a:t>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1" u="none" strike="noStrike" dirty="0">
                <a:effectLst/>
                <a:latin typeface="+mn-lt"/>
              </a:rPr>
              <a:t>Como funciona:</a:t>
            </a:r>
            <a:r>
              <a:rPr lang="pt-BR" sz="1800" b="0" u="none" strike="noStrike" dirty="0">
                <a:effectLst/>
                <a:latin typeface="+mn-lt"/>
              </a:rPr>
              <a:t> Uma fonte de luz UV ( LEDs ) ilumina por baixo, e uma tela LCD funciona como uma máscara digital que bloqueia ou passa a luz para formar a imagem da camada inteira instantaneamente.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1" u="none" strike="noStrike" dirty="0">
                <a:effectLst/>
                <a:latin typeface="+mn-lt"/>
              </a:rPr>
              <a:t>Velocidade:</a:t>
            </a:r>
            <a:r>
              <a:rPr lang="pt-BR" sz="1800" b="0" u="none" strike="noStrike" dirty="0">
                <a:effectLst/>
                <a:latin typeface="+mn-lt"/>
              </a:rPr>
              <a:t> Muito mais rápido que o SLA tradicional, com o tempo de cura por camada fixo independentemente de quantos objetos estão na plataforma.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1" u="none" strike="noStrike" dirty="0">
                <a:effectLst/>
                <a:latin typeface="+mn-lt"/>
              </a:rPr>
              <a:t>Custo-benefício:</a:t>
            </a:r>
            <a:r>
              <a:rPr lang="pt-BR" sz="1800" b="0" u="none" strike="noStrike" dirty="0">
                <a:effectLst/>
                <a:latin typeface="+mn-lt"/>
              </a:rPr>
              <a:t> Geralmente mais acessível e dominante no mercado atual de entrada e médio porte.</a:t>
            </a:r>
            <a:endParaRPr lang="pt-BR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19018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BDA8EAC-0DC1-CB90-6452-C0825C23D0AE}"/>
              </a:ext>
            </a:extLst>
          </p:cNvPr>
          <p:cNvSpPr txBox="1"/>
          <p:nvPr/>
        </p:nvSpPr>
        <p:spPr>
          <a:xfrm>
            <a:off x="475059" y="1284802"/>
            <a:ext cx="1094065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pt-BR" sz="1800" b="1" u="none" strike="noStrike" dirty="0">
                <a:effectLst/>
                <a:latin typeface="+mn-lt"/>
              </a:rPr>
              <a:t>SLS (Sinterização Seletiva a Laser):</a:t>
            </a:r>
            <a:r>
              <a:rPr lang="pt-BR" sz="1800" b="0" u="none" strike="noStrike" dirty="0">
                <a:effectLst/>
                <a:latin typeface="+mn-lt"/>
              </a:rPr>
              <a:t>Usa um laser para aquecer e fundir parcialmente (</a:t>
            </a:r>
            <a:r>
              <a:rPr lang="pt-BR" sz="1800" b="1" u="none" strike="noStrike" dirty="0">
                <a:effectLst/>
                <a:latin typeface="+mn-lt"/>
              </a:rPr>
              <a:t>sinterizar</a:t>
            </a:r>
            <a:r>
              <a:rPr lang="pt-BR" sz="1800" b="0" u="none" strike="noStrike" dirty="0">
                <a:effectLst/>
                <a:latin typeface="+mn-lt"/>
              </a:rPr>
              <a:t>) partículas de pó, criando peças porosas de forma controlada.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0" u="none" strike="noStrike" dirty="0">
                <a:effectLst/>
                <a:latin typeface="+mn-lt"/>
              </a:rPr>
              <a:t>Utiliza principalmente polímeros, como náilon e plásticos.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0" u="none" strike="noStrike" dirty="0">
                <a:effectLst/>
                <a:latin typeface="+mn-lt"/>
              </a:rPr>
              <a:t>Dispensa estruturas de suporte, pois o pó não fundido apoia a peça.</a:t>
            </a:r>
            <a:endParaRPr lang="pt-BR" sz="1200" b="0" u="none" strike="noStrike" dirty="0">
              <a:effectLst/>
              <a:latin typeface="Google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899609-204C-B3D9-E1C8-40108352AF11}"/>
              </a:ext>
            </a:extLst>
          </p:cNvPr>
          <p:cNvSpPr txBox="1"/>
          <p:nvPr/>
        </p:nvSpPr>
        <p:spPr>
          <a:xfrm>
            <a:off x="475058" y="3613665"/>
            <a:ext cx="1079777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900"/>
              </a:spcBef>
              <a:spcAft>
                <a:spcPts val="900"/>
              </a:spcAft>
            </a:pPr>
            <a:r>
              <a:rPr lang="pt-BR" sz="1800" b="1" u="none" strike="noStrike" dirty="0">
                <a:effectLst/>
                <a:latin typeface="+mn-lt"/>
              </a:rPr>
              <a:t>SLM (Fusão Seletiva a Laser):</a:t>
            </a:r>
            <a:r>
              <a:rPr lang="pt-BR" sz="1800" b="0" u="none" strike="noStrike" dirty="0">
                <a:effectLst/>
                <a:latin typeface="+mn-lt"/>
              </a:rPr>
              <a:t>Usa um laser de alta potência para </a:t>
            </a:r>
            <a:r>
              <a:rPr lang="pt-BR" sz="1800" b="1" u="none" strike="noStrike" dirty="0">
                <a:effectLst/>
                <a:latin typeface="+mn-lt"/>
              </a:rPr>
              <a:t>fundir totalmente</a:t>
            </a:r>
            <a:r>
              <a:rPr lang="pt-BR" sz="1800" b="0" u="none" strike="noStrike" dirty="0">
                <a:effectLst/>
                <a:latin typeface="+mn-lt"/>
              </a:rPr>
              <a:t> o pó metálico, criando peças densas e homogêneas equivalentes a peças fundidas ou forjadas.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0" u="none" strike="noStrike" dirty="0">
                <a:effectLst/>
                <a:latin typeface="+mn-lt"/>
              </a:rPr>
              <a:t>Utiliza metais como titânio, alumínio e aço inoxidável.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800" b="0" u="none" strike="noStrike" dirty="0">
                <a:effectLst/>
                <a:latin typeface="+mn-lt"/>
              </a:rPr>
              <a:t>Oferece altíssima resistência mecânica.</a:t>
            </a:r>
            <a:endParaRPr lang="pt-BR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79575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1800225"/>
            <a:ext cx="5262562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57400"/>
            <a:ext cx="5262562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276600"/>
            <a:ext cx="5262562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495800"/>
            <a:ext cx="5262562" cy="1047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837" y="1809750"/>
            <a:ext cx="5243512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23837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4575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67677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343150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2383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Impressão FDM (Filamento)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955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Ideal para protótipos funcionais, ferramentas e peças grandes. Baixo custo por peça e grande variedade de polímeros.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3562350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4575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Impressão SLA (Resina)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147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Perfeita para miniaturas, odontologia e joalheria. Requer lavagem em álcool isopropílico e cura UV adicional.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162" y="4781550"/>
            <a:ext cx="21907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6767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Custo de Manutenção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39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FDM exige menos insumos descartáveis. Resina necessita de EPIs, troca de filme FEP e descarte controlado.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FDM vs Resina (SLA/MSLA)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E66182A-067D-DED5-7BBA-A63AA9B55C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475" y="380440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543175"/>
            <a:ext cx="10953750" cy="25146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9125" y="2543175"/>
          <a:ext cx="1093469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8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3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Tecnologia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Material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Precisão / Acabamento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Principal Aplicação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FDM (FFF)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Filamento Termoplástico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Média (Linhas de camada visíveis)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Protótipos funcionais, gabaritos, peças grandes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MSLA / LCD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Resina Fotossensível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Alta / Excelente precisão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Action figures, próteses dentárias, joias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SLS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Pó de Nylon (Poliamida)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Alta (Superfície levemente rugosa)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Peças de produção final, geometrias complexas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SLM / DMLS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Pó Metálico (Aço, Titânio)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Extrema (Grau de engenharia)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Setor aeroespacial, biomédico e automotivo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8650" y="3067050"/>
            <a:ext cx="13787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07393" y="3067050"/>
            <a:ext cx="2394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01591" y="3067050"/>
            <a:ext cx="30783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79952" y="3067050"/>
            <a:ext cx="40833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8650" y="3562350"/>
            <a:ext cx="13787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07393" y="3562350"/>
            <a:ext cx="2394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1591" y="3562350"/>
            <a:ext cx="30783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79952" y="3562350"/>
            <a:ext cx="40833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650" y="4057650"/>
            <a:ext cx="13787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07393" y="4057650"/>
            <a:ext cx="2394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1591" y="4057650"/>
            <a:ext cx="30783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79952" y="4057650"/>
            <a:ext cx="40833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8650" y="4552950"/>
            <a:ext cx="13787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07393" y="4552950"/>
            <a:ext cx="23941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01591" y="4552950"/>
            <a:ext cx="30783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79952" y="4552950"/>
            <a:ext cx="40833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Matriz Comparativa de Aplicações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89E73FBA-F9BD-116F-D51B-A94F4AE19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87" y="2367855"/>
            <a:ext cx="2943225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5551" y="2958405"/>
            <a:ext cx="7180897" cy="71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sz="5100" b="1" i="0" u="none">
                <a:solidFill>
                  <a:srgbClr val="F8FAFC"/>
                </a:solidFill>
                <a:latin typeface="Space Grotesk"/>
              </a:rPr>
              <a:t>Tipos de Filamento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861345"/>
            <a:ext cx="7429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Guia prático sobre polímeros para impressão FDM: características, resistência e parâmetros ideais de impressão.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B6B0DE-93C9-AE9A-5AF8-AE9890F27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486025"/>
            <a:ext cx="3473499" cy="262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324" y="2486025"/>
            <a:ext cx="3473499" cy="262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524" y="2486025"/>
            <a:ext cx="3473499" cy="2628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80035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PLA (Ácido Poliláctico)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Origem orgânica (amido de milho). Muito fácil de imprimir, sem odor forte, excelente detalhamento e baixa deformação (warping).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99" y="280035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6499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PETG (Polietileno)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6499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O equilíbrio perfeito entre a facilidade do PLA e a resistência mecânica/térmica do ABS. Excelente adesão entre camadas e resistente à água.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699" y="280035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6699" y="3562350"/>
            <a:ext cx="31071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ABS (Acrilonitrila)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699" y="3943350"/>
            <a:ext cx="29591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Plástico derivado do petróleo. Alta resistência térmica e a impactos. Requer mesa bem aquecida (100°C) e impressora fechada.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933700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849" y="2933700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8149" y="2933700"/>
            <a:ext cx="2286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Os Filamentos Mais Utilizados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3AD91B3-22A5-A8F9-9208-E79198F197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1800225"/>
            <a:ext cx="5262562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057400"/>
            <a:ext cx="5262562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276600"/>
            <a:ext cx="5262562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4495800"/>
            <a:ext cx="5262562" cy="1047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837" y="1809750"/>
            <a:ext cx="5243512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23837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4575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676775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343150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2383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TPU / Flexível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955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Polímero emborrachado com alta elasticidade e absorção de impacto. Ideal para vedações, pneus de robôs e capinhas.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3562350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4575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Nylon (Poliamida / PA)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147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Extrema durabilidade e baixíssimo coeficiente de atrito. Perfeito para engrenagens e componentes sob tensão.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4781550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0" y="4676775"/>
            <a:ext cx="450556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pace Grotesk"/>
              </a:rPr>
              <a:t>Compósitos (Fibra de Carbono)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3950"/>
            <a:ext cx="429101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Matriz de Nylon ou PETG reforçada com microfibras de carbono. Oferece rigidez extrema com peso reduzido.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Filamentos Especiais e Técnicos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2E0195F3-B027-B5B1-EE73-2E2D98B596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950" y="380440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543175"/>
            <a:ext cx="10953750" cy="25146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9125" y="2543175"/>
          <a:ext cx="1093469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9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Material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Temp. Bico (Nozzle)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Temp. Mesa (Bed)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Dificuldade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2D3EE"/>
                          </a:solidFill>
                          <a:latin typeface="Space Grotesk"/>
                        </a:rPr>
                        <a:t>Uso Recomendado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PLA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190°C – 215°C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50°C – 60°C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Fácil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Protótipos, peças decorativas, estátuas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PETG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230°C – 250°C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70°C – 80°C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Média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Peças mecânicas, uso externo e recipientes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ABS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230°C – 255°C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90°C – 110°C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Difícil (Exige fechamento)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Peças automotivas e com alta temperatura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TPU (Flex)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210°C – 230°C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40°C – 60°C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Média (Velocidade baixa)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Peças flexíveis, calços e vedações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8650" y="3067050"/>
            <a:ext cx="11891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17786" y="3067050"/>
            <a:ext cx="20155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33366" y="3067050"/>
            <a:ext cx="18744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07856" y="3067050"/>
            <a:ext cx="22675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75401" y="3067050"/>
            <a:ext cx="35879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8650" y="3562350"/>
            <a:ext cx="11891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786" y="3562350"/>
            <a:ext cx="20155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33366" y="3562350"/>
            <a:ext cx="18744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07856" y="3562350"/>
            <a:ext cx="22675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75401" y="3562350"/>
            <a:ext cx="35879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650" y="4057650"/>
            <a:ext cx="11891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17786" y="4057650"/>
            <a:ext cx="20155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33366" y="4057650"/>
            <a:ext cx="18744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07856" y="4057650"/>
            <a:ext cx="22675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5401" y="4057650"/>
            <a:ext cx="35879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8650" y="4552950"/>
            <a:ext cx="118913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17786" y="4552950"/>
            <a:ext cx="201557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33366" y="4552950"/>
            <a:ext cx="18744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07856" y="4552950"/>
            <a:ext cx="226754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75401" y="4552950"/>
            <a:ext cx="358794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9125" y="523875"/>
            <a:ext cx="1150143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Space Grotesk"/>
              </a:rPr>
              <a:t>Guia Rápido de Configuração de Temperatura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125" y="9810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5724FDBA-A828-7146-B3C4-4448FF005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0403886-98DA-E9AC-3AEE-4919EDB9C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3747"/>
            <a:ext cx="12192000" cy="86201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414FFD-652F-6BD9-C7A0-A905EF4CA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710" y="0"/>
            <a:ext cx="1242204" cy="78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6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55DC43-D7EF-4FF0-8CEC-81D261BD1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06848"/>
            <a:ext cx="12192000" cy="86201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316AF3E-4867-35F2-43A7-6BDB376C8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17" y="0"/>
            <a:ext cx="1242204" cy="78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32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514475"/>
            <a:ext cx="952500" cy="95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5416" y="2695575"/>
            <a:ext cx="9341167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 u="none">
                <a:solidFill>
                  <a:srgbClr val="F8FAFC"/>
                </a:solidFill>
                <a:latin typeface="Space Grotesk"/>
              </a:rPr>
              <a:t>Pronto para Fatiar o Seu Modelo?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3552825"/>
            <a:ext cx="61912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Com o conhecimento sobre máquinas e materiais, você tem toda a base necessária para configurar o software fatiador (Slicer)!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425" y="4829175"/>
            <a:ext cx="46291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95750" y="4991100"/>
            <a:ext cx="1724025" cy="19050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Módulo 3: Materiais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5525" y="4991100"/>
            <a:ext cx="1990725" cy="1905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Fim do Módulo Teórico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5010150"/>
            <a:ext cx="1714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525" y="5010150"/>
            <a:ext cx="190500" cy="1524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B37481B-D287-1F25-7096-2C3E82809F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1A949-3163-549F-1432-0B375D0C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E1395-D5BD-74AD-C840-0AE58E3B0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23188" cy="858764"/>
          </a:xfrm>
        </p:spPr>
        <p:txBody>
          <a:bodyPr/>
          <a:lstStyle/>
          <a:p>
            <a:r>
              <a:rPr lang="pt-BR" noProof="0" dirty="0"/>
              <a:t>Prototipação e Impressão 3D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E19DD4-FA07-3424-C8B9-61CCEDDE4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3141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932E75F-BE05-00F7-DCF3-FE7967F11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86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22538-AA27-61BF-7D0A-99EE6982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858A8AC-429A-03C8-5C0F-5F857EF49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49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CDE8567-1655-B6F0-C9C2-58CFD5FB7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527D2-4EB7-D521-3FE1-DB9ECEC4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5722D45-BD35-62D8-2193-0E717E118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49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C25565-D541-BFF9-7981-6BDEC3548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8261DEB-7529-989D-9CE6-F6FBA3446D18}"/>
              </a:ext>
            </a:extLst>
          </p:cNvPr>
          <p:cNvSpPr txBox="1"/>
          <p:nvPr/>
        </p:nvSpPr>
        <p:spPr>
          <a:xfrm>
            <a:off x="362309" y="938330"/>
            <a:ext cx="2487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Tour pela impressora e...</a:t>
            </a:r>
          </a:p>
        </p:txBody>
      </p:sp>
    </p:spTree>
    <p:extLst>
      <p:ext uri="{BB962C8B-B14F-4D97-AF65-F5344CB8AC3E}">
        <p14:creationId xmlns:p14="http://schemas.microsoft.com/office/powerpoint/2010/main" val="3809436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AE3DD28-4F87-87E6-97C7-C2F15D7A0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05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087" y="2096541"/>
            <a:ext cx="1647825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5461" y="2601366"/>
            <a:ext cx="862107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Poppins"/>
              </a:rPr>
              <a:t>Panorama de Impressoras 3D:</a:t>
            </a:r>
            <a:r>
              <a:t>
</a:t>
            </a:r>
            <a:r>
              <a:rPr sz="4200" b="1" i="0" u="none">
                <a:solidFill>
                  <a:srgbClr val="F8FAFC"/>
                </a:solidFill>
                <a:latin typeface="Poppins"/>
              </a:rPr>
              <a:t> Abertas vs. Fechadas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4018508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Uma análise comparativa dos modelos abertos clássicos e atuais até as soluções fechadas das principais marcas do mercado.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4E336DB-3105-3D74-51F7-4BCD1E974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34" y="5619188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Ender 3: A Pioneira Aberta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869406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oppins SemiBold"/>
              </a:rPr>
              <a:t>O Marco da Impressão 3D Popular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17081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 </a:t>
            </a:r>
            <a:r>
              <a:rPr sz="1275" b="1" i="0" u="none">
                <a:solidFill>
                  <a:srgbClr val="F1F5F9"/>
                </a:solidFill>
                <a:latin typeface="Inter"/>
              </a:rPr>
              <a:t>Creality Ender 3 original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revolucionou o mercado mundial ao democratizar a fabricação aditiva com estrutura aberta em alumínio e baixo custo.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160043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Sirva como base pedagógica: mecânica cartesiana simples, montagem DIY e alto nível de modificação da comunidade.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06C9CF5-DC62-2A5C-788D-8B696B1B2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34" y="5688199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52675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oppins SemiBold"/>
              </a:rPr>
              <a:t>A Nova Geração de Bedslingers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035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Calibração Totalmente Automática: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Alinhamento de mesa, compensação de vibração e offset Z sem intervenção manual.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1947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Alta Velocidade com Precisão: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Velocidades de impressão de até 500 mm/s com controle ativo de fluxo.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3860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Sistema Multicolorido AMS Lite: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Permite trocas automáticas de até 4 cores em estrutura aberta.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5772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A1 Mini: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Formato compacto Plug-and-Play ideal para iniciantes e espaços reduzidos.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27717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3909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0100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6291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Bambu Lab: Linha A1 &amp; A1 Mini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4E7E00A-7D77-1E7B-5E1E-0240960EFC96}"/>
              </a:ext>
            </a:extLst>
          </p:cNvPr>
          <p:cNvSpPr txBox="1"/>
          <p:nvPr/>
        </p:nvSpPr>
        <p:spPr>
          <a:xfrm>
            <a:off x="581025" y="5437971"/>
            <a:ext cx="519112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solidFill>
                  <a:schemeClr val="bg1"/>
                </a:solidFill>
              </a:rPr>
              <a:t>A1 Mini: R$ 2.000,00 à R$ 3.500,00</a:t>
            </a:r>
          </a:p>
          <a:p>
            <a:r>
              <a:rPr lang="pt-BR" sz="2500" dirty="0">
                <a:solidFill>
                  <a:schemeClr val="bg1"/>
                </a:solidFill>
              </a:rPr>
              <a:t>A1 : R$ 3100,00 à 5.000,00</a:t>
            </a:r>
          </a:p>
          <a:p>
            <a:r>
              <a:rPr lang="pt-BR" sz="2500" dirty="0">
                <a:solidFill>
                  <a:schemeClr val="bg1"/>
                </a:solidFill>
              </a:rPr>
              <a:t>A2L: R$ 4.600,00 à 7.000,00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9EFF9ACA-ADDF-A208-23BD-7DA1F57433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664" y="266419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52675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oppins SemiBold"/>
              </a:rPr>
              <a:t>Alta Velocidade e Trilhos Lineares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035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Creality OS (Baseado em Klipper):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Recursos avançados de movimentação inteligente e controle remoto.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1947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Cinemática CoreXZ / Trilhos de Precisão: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Atinge velocidades operacionais de até 500 mm/s (Ender 3 V3 / KE).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3860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Extrusora Direct Drive Sprite: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Hotend cerâmico de alta vazão compatível com múltiplos filamentos flexíveis e técnicos.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5772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Modelos V3 SE / KE / Plus: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Opções desde a entrada automatizada até grandes volumes de impressão.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27717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3909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0100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6291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Creality: Ender 3 V3 e Evolução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3AEBB30-4627-602E-0007-386CC4B3A04D}"/>
              </a:ext>
            </a:extLst>
          </p:cNvPr>
          <p:cNvSpPr txBox="1"/>
          <p:nvPr/>
        </p:nvSpPr>
        <p:spPr>
          <a:xfrm>
            <a:off x="571500" y="5385985"/>
            <a:ext cx="45870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err="1">
                <a:solidFill>
                  <a:schemeClr val="bg1"/>
                </a:solidFill>
              </a:rPr>
              <a:t>Ender</a:t>
            </a:r>
            <a:r>
              <a:rPr lang="pt-BR" sz="2500" dirty="0">
                <a:solidFill>
                  <a:schemeClr val="bg1"/>
                </a:solidFill>
              </a:rPr>
              <a:t> V3: +- R$ 1.500,00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B435EB8-B0E2-62C2-67CD-EC0FDD11AF44}"/>
              </a:ext>
            </a:extLst>
          </p:cNvPr>
          <p:cNvSpPr txBox="1"/>
          <p:nvPr/>
        </p:nvSpPr>
        <p:spPr>
          <a:xfrm>
            <a:off x="571500" y="6005110"/>
            <a:ext cx="45870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solidFill>
                  <a:schemeClr val="bg1"/>
                </a:solidFill>
              </a:rPr>
              <a:t>Spark: R$2.700,00 à 4.600,00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9EAE3020-4C5D-26F5-48F8-1EF3EF8C8A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101" y="266419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52675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oppins SemiBold"/>
              </a:rPr>
              <a:t>Velocidade e Ecossistema Multicolor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035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Linha Kobra 2 e Kobra 3: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Estruturas abertas focadas em produtividade rápida e facilidade de operação.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1947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Sistema ACE Pro (Kobra 3):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Módulo multifilamento que insere impressão colorida na categoria aberta.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3860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Auto-nivelamento LeviQ 3.0: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Mapeamento preciso da mesa aquecida para primeira camada perfeita.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5772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Custo-Benefício Competitivo: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Excelente porta de entrada para alta velocidade (até 600 mm/s).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27717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3909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0100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6291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Anycubic: Linha Kobra Aberta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952E8DF-7BDD-B281-F1ED-9B7828DE0DF9}"/>
              </a:ext>
            </a:extLst>
          </p:cNvPr>
          <p:cNvSpPr txBox="1"/>
          <p:nvPr/>
        </p:nvSpPr>
        <p:spPr>
          <a:xfrm>
            <a:off x="571500" y="5385985"/>
            <a:ext cx="4587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>
                <a:solidFill>
                  <a:schemeClr val="bg1"/>
                </a:solidFill>
              </a:rPr>
              <a:t>Kobra X: +- R$ 3.200,00</a:t>
            </a:r>
          </a:p>
          <a:p>
            <a:r>
              <a:rPr lang="pt-BR" sz="2500" dirty="0">
                <a:solidFill>
                  <a:schemeClr val="bg1"/>
                </a:solidFill>
              </a:rPr>
              <a:t>Kobra 4 Combo: +- 3.000,00 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B5D8978-6659-710F-6014-47E80C87B7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423" y="266419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52675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oppins SemiBold"/>
              </a:rPr>
              <a:t>Estrutura CoreXY Aberta (Open-Frame)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035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Chassi Aberto sem Painéis: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Mantém visibilidade total da área de impressão e excelente ventilação para PLA e PETG.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1947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Arquitetura CoreXY Rápida: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Aceleração de até 20.000 mm/s² e velocidade máxima de 600 mm/s em chassi de alta rigidez.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38600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Bico de Troca Rápida (Quick-Swap):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Troca de bicos em segundos sem necessidade de ferramentas.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57725"/>
            <a:ext cx="50673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Nivelamento Automático: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Calibração completa de mesa pronta para imprimir rapidamente.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31495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27717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3909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0100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6291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Flashforge: Adventurer 5M Aberta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907EFC57-693D-8C14-5D4C-1302575495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101" y="266419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Impressoras Fechadas no Mercado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12218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2E8F0"/>
                </a:solidFill>
                <a:latin typeface="Poppins SemiBold"/>
              </a:rPr>
              <a:t>Principais Modelos Fechados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59893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Bambu Lab P1S / X1-Carbon: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Referência em câmara fechada e impressão de materiais técnicos (ABS, ASA, PA-CF).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59968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Creality K1 / K1C / K1 Max: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Estrutura CoreXY totalmente fechada com filtro de ar e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60043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Flashforge Adventurer 5M Pro / 4: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Versão enclausurada com filtragem HEPA dupla e operação silenciosa.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0118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1F5F9"/>
                </a:solidFill>
                <a:latin typeface="Inter"/>
              </a:rPr>
              <a:t>Anycubic (Enclosures &amp; ACE Pro Combo):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Kits de enclausuramento oficial e módulos selados para secagem/impressão de materiais sensíveis.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89AEA6C-BF1F-DD5C-CFBA-3579DB2C8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5668285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50281"/>
          <a:ext cx="11048999" cy="3128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8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Característica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Impressoras Abertas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Impressoras Fechadas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Inter"/>
                        </a:rPr>
                        <a:t>Materiais Indicados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PLA, PETG, TPU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ABS, ASA, Nylon, PC, Filamentos com Carbono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Inter"/>
                        </a:rPr>
                        <a:t>Controle Térmico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Suscetível a correntes de ar / Warping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Câmara aquecida estável, sem correntes de 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Inter"/>
                        </a:rPr>
                        <a:t>Manutenção e Acesso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Fácil acesso aos componentes e montagem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Acesso restrito pelas portas/painéis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49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Inter"/>
                        </a:rPr>
                        <a:t>Segurança e Ruído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Maior ruído e partes móveis expostas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Mais silenciosas, com filtro e proteção física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497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Inter"/>
                        </a:rPr>
                        <a:t>Faixa de Preço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Geralmente mais acessíveis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Investimento inicial mais elevado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69393"/>
            <a:ext cx="2330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02148" y="2769393"/>
            <a:ext cx="42296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1843" y="2769393"/>
            <a:ext cx="4488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288506"/>
            <a:ext cx="2330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02148" y="3288506"/>
            <a:ext cx="42296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1843" y="3288506"/>
            <a:ext cx="4488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807618"/>
            <a:ext cx="2330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02148" y="3807618"/>
            <a:ext cx="42296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1843" y="3807618"/>
            <a:ext cx="4488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326731"/>
            <a:ext cx="2330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02148" y="4326731"/>
            <a:ext cx="42296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1843" y="4326731"/>
            <a:ext cx="4488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845843"/>
            <a:ext cx="2330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02148" y="4845843"/>
            <a:ext cx="42296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1843" y="4845843"/>
            <a:ext cx="4488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5364956"/>
            <a:ext cx="2330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02148" y="5364956"/>
            <a:ext cx="42296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1843" y="5364956"/>
            <a:ext cx="448865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38BDF8"/>
                </a:solidFill>
                <a:latin typeface="Poppins SemiBold"/>
              </a:rPr>
              <a:t>Comparativo: Abertas vs Fechadas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066AAEB7-87EB-B2FA-F59F-A341224DD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87" y="266419"/>
            <a:ext cx="1606399" cy="10102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E4E046-1CC0-86D2-3F66-F0F32A903C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99" b="68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803061B-0DEC-B83A-3357-2337A9196B15}"/>
              </a:ext>
            </a:extLst>
          </p:cNvPr>
          <p:cNvSpPr txBox="1"/>
          <p:nvPr/>
        </p:nvSpPr>
        <p:spPr>
          <a:xfrm>
            <a:off x="237227" y="6487386"/>
            <a:ext cx="6098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https://wiki.bambulab.com/pt-br/a1/manual/glossary</a:t>
            </a:r>
          </a:p>
        </p:txBody>
      </p:sp>
    </p:spTree>
    <p:extLst>
      <p:ext uri="{BB962C8B-B14F-4D97-AF65-F5344CB8AC3E}">
        <p14:creationId xmlns:p14="http://schemas.microsoft.com/office/powerpoint/2010/main" val="1109312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5754C47-7942-1A03-C626-D35DD7FE9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94" b="582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24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4507F1B-7930-4877-6F3D-872E6F1C2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9" b="1242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30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A299374-CCC4-D986-BD25-87E43267A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64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4155AA4-4D40-F134-1A9F-FCDE2BEA3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BEA9066-C027-6151-B20A-A17DDF4ED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31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2CC3A7-82CA-294E-A41C-148E2476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pt-BR" sz="2000" dirty="0">
                <a:solidFill>
                  <a:srgbClr val="FFFFFF"/>
                </a:solidFill>
              </a:rPr>
              <a:t>https://wiki.bambulab.com/pt-br/filament-acc/acc/plates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5B80DAE-F55A-A1C5-B209-3064F6B0F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5" y="1834549"/>
            <a:ext cx="10748497" cy="2095957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9E473E0-77E2-3763-2EBD-9A693DA30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53" y="342147"/>
            <a:ext cx="1170549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dirty="0"/>
              <a:t>Placas de construção</a:t>
            </a:r>
          </a:p>
        </p:txBody>
      </p:sp>
    </p:spTree>
    <p:extLst>
      <p:ext uri="{BB962C8B-B14F-4D97-AF65-F5344CB8AC3E}">
        <p14:creationId xmlns:p14="http://schemas.microsoft.com/office/powerpoint/2010/main" val="479470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Tela do Bambu Labs A1 piorou? : r/BambuLab_Community">
            <a:extLst>
              <a:ext uri="{FF2B5EF4-FFF2-40B4-BE49-F238E27FC236}">
                <a16:creationId xmlns:a16="http://schemas.microsoft.com/office/drawing/2014/main" id="{DB99484C-05B5-BEA5-D051-CD2B2C7CAB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0" r="-2" b="17867"/>
          <a:stretch>
            <a:fillRect/>
          </a:stretch>
        </p:blipFill>
        <p:spPr>
          <a:xfrm>
            <a:off x="6421035" y="643481"/>
            <a:ext cx="5129784" cy="557103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Bambu Lab A1 Specs and Information | 3D Printer Database | 3DPros">
            <a:extLst>
              <a:ext uri="{FF2B5EF4-FFF2-40B4-BE49-F238E27FC236}">
                <a16:creationId xmlns:a16="http://schemas.microsoft.com/office/drawing/2014/main" id="{B08A7BC9-35AA-B0A2-AF25-4C70CB59CB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79" r="4444" b="2"/>
          <a:stretch>
            <a:fillRect/>
          </a:stretch>
        </p:blipFill>
        <p:spPr>
          <a:xfrm>
            <a:off x="641185" y="643467"/>
            <a:ext cx="5129774" cy="557106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732942-6254-AA5D-0DA4-FBDE67B56A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560" y="5204309"/>
            <a:ext cx="1606399" cy="10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46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4E95-3238-9A7C-330E-7A95359CF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4B6D64-95E9-ECCD-748A-984CC8C3A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53" y="342147"/>
            <a:ext cx="11705493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Continua...</a:t>
            </a:r>
          </a:p>
        </p:txBody>
      </p:sp>
    </p:spTree>
    <p:extLst>
      <p:ext uri="{BB962C8B-B14F-4D97-AF65-F5344CB8AC3E}">
        <p14:creationId xmlns:p14="http://schemas.microsoft.com/office/powerpoint/2010/main" val="30423724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CCCDDF8D6D4804C8ADE6F3BA143ABCD" ma:contentTypeVersion="18" ma:contentTypeDescription="Crie um novo documento." ma:contentTypeScope="" ma:versionID="c40947380473f74c03837c0530d29452">
  <xsd:schema xmlns:xsd="http://www.w3.org/2001/XMLSchema" xmlns:xs="http://www.w3.org/2001/XMLSchema" xmlns:p="http://schemas.microsoft.com/office/2006/metadata/properties" xmlns:ns2="30e3ab87-8e3c-4da4-a07e-2a942f32654c" xmlns:ns3="3ea433be-b6c6-4ac2-a549-bb89c19ece0f" targetNamespace="http://schemas.microsoft.com/office/2006/metadata/properties" ma:root="true" ma:fieldsID="6e25eadc9880992038d28813917e0bc3" ns2:_="" ns3:_="">
    <xsd:import namespace="30e3ab87-8e3c-4da4-a07e-2a942f32654c"/>
    <xsd:import namespace="3ea433be-b6c6-4ac2-a549-bb89c19ece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e3ab87-8e3c-4da4-a07e-2a942f3265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cceff4b2-fc7e-4d7a-bdfe-817c3b0d8f8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433be-b6c6-4ac2-a549-bb89c19ece0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f4a95c7-5498-46f1-9c8f-74fc3cdd80ed}" ma:internalName="TaxCatchAll" ma:showField="CatchAllData" ma:web="3ea433be-b6c6-4ac2-a549-bb89c19ece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e3ab87-8e3c-4da4-a07e-2a942f32654c">
      <Terms xmlns="http://schemas.microsoft.com/office/infopath/2007/PartnerControls"/>
    </lcf76f155ced4ddcb4097134ff3c332f>
    <TaxCatchAll xmlns="3ea433be-b6c6-4ac2-a549-bb89c19ece0f" xsi:nil="true"/>
    <SharedWithUsers xmlns="3ea433be-b6c6-4ac2-a549-bb89c19ece0f">
      <UserInfo>
        <DisplayName>Fabio Cunha Rodrigues</DisplayName>
        <AccountId>77</AccountId>
        <AccountType/>
      </UserInfo>
      <UserInfo>
        <DisplayName>Clovis Vinicius Avelar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E9063E-C403-494C-98D9-FE8EB7A53D3D}">
  <ds:schemaRefs>
    <ds:schemaRef ds:uri="30e3ab87-8e3c-4da4-a07e-2a942f32654c"/>
    <ds:schemaRef ds:uri="3ea433be-b6c6-4ac2-a549-bb89c19ece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ACF8024-1B3B-4DC5-9462-F60EE00103C4}">
  <ds:schemaRefs>
    <ds:schemaRef ds:uri="0809f0bf-bf70-467a-8952-101cdc6d422d"/>
    <ds:schemaRef ds:uri="30e3ab87-8e3c-4da4-a07e-2a942f32654c"/>
    <ds:schemaRef ds:uri="3ea433be-b6c6-4ac2-a549-bb89c19ece0f"/>
    <ds:schemaRef ds:uri="ac54fd8a-04fa-45e7-862f-10294e7785b9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52B03AF-20E2-417B-BB35-1DCFFEFB96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1997</Words>
  <Application>Microsoft Office PowerPoint</Application>
  <PresentationFormat>Widescreen</PresentationFormat>
  <Paragraphs>229</Paragraphs>
  <Slides>39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9" baseType="lpstr">
      <vt:lpstr>Arial</vt:lpstr>
      <vt:lpstr>Calibri</vt:lpstr>
      <vt:lpstr>Google Sans</vt:lpstr>
      <vt:lpstr>Helvetica</vt:lpstr>
      <vt:lpstr>Inter</vt:lpstr>
      <vt:lpstr>Poppins</vt:lpstr>
      <vt:lpstr>Poppins SemiBold</vt:lpstr>
      <vt:lpstr>Space Grotesk</vt:lpstr>
      <vt:lpstr>Space Grotesk SemiBold</vt:lpstr>
      <vt:lpstr>Tema do Office</vt:lpstr>
      <vt:lpstr>Bem vindos ao Senac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Prototipação e Impressão 3D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https://wiki.bambulab.com/pt-br/filament-acc/acc/plates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Augusto da Costa</dc:creator>
  <cp:lastModifiedBy>Marcos Augusto de Azevedo</cp:lastModifiedBy>
  <cp:revision>341</cp:revision>
  <dcterms:created xsi:type="dcterms:W3CDTF">2017-01-10T17:35:04Z</dcterms:created>
  <dcterms:modified xsi:type="dcterms:W3CDTF">2026-09-16T05:32:23Z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0x0101007CCCDDF8D6D4804C8ADE6F3BA143ABCD</vt:lpwstr>
  </property>
  <property fmtid="{D5CDD505-2E9C-101B-9397-08002B2CF9AE}" pid="3" name="MediaServiceImageTags">
    <vt:lpwstr/>
  </property>
</Properties>
</file>